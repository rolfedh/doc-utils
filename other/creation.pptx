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vale.sh/"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Creating Tools with Claude Code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Creating Tools with Claude Code: A Walkthrough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document shows how a technical writer can use Claude Code to build a documentation tool from scratch. We’ll walk through the creation of </a:t>
            </a:r>
            <a:r>
              <a:rPr>
                <a:latin typeface="Courier"/>
              </a:rPr>
              <a:t>insert-procedure-title</a:t>
            </a:r>
            <a:r>
              <a:rPr/>
              <a:t>, a tool that fixes Vale warnings by inserting </a:t>
            </a:r>
            <a:r>
              <a:rPr>
                <a:latin typeface="Courier"/>
              </a:rPr>
              <a:t>.Procedure</a:t>
            </a:r>
            <a:r>
              <a:rPr/>
              <a:t> block titles in AsciiDoc files.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Starting Point</a:t>
            </a:r>
          </a:p>
        </p:txBody>
      </p:sp>
      <p:sp>
        <p:nvSpPr>
          <p:cNvPr id="3" name="Content Placeholder 2"/>
          <p:cNvSpPr>
            <a:spLocks noGrp="1"/>
          </p:cNvSpPr>
          <p:nvPr>
            <p:ph idx="1"/>
          </p:nvPr>
        </p:nvSpPr>
        <p:spPr/>
        <p:txBody>
          <a:bodyPr/>
          <a:lstStyle/>
          <a:p>
            <a:pPr lvl="0" indent="0" marL="0">
              <a:buNone/>
            </a:pPr>
            <a:r>
              <a:rPr/>
              <a:t>It began with a Vale warning. </a:t>
            </a:r>
            <a:r>
              <a:rPr>
                <a:hlinkClick r:id="rId2"/>
              </a:rPr>
              <a:t>Vale</a:t>
            </a:r>
            <a:r>
              <a:rPr/>
              <a:t> is a linter for prose that enforces style rules in documentation:</a:t>
            </a:r>
          </a:p>
          <a:p>
            <a:pPr lvl="0" indent="0">
              <a:buNone/>
            </a:pPr>
            <a:r>
              <a:rPr>
                <a:latin typeface="Courier"/>
              </a:rPr>
              <a:t>modules/proc_advanced-configuration-mapping.adoc
1:1  warning  The '.Procedure' block title is missing.  AsciiDocDITA.TaskContents</a:t>
            </a:r>
          </a:p>
          <a:p>
            <a:pPr lvl="0" indent="0" marL="0">
              <a:buNone/>
            </a:pPr>
            <a:r>
              <a:rPr/>
              <a:t>The goal: create a tool that automatically inserts </a:t>
            </a:r>
            <a:r>
              <a:rPr>
                <a:latin typeface="Courier"/>
              </a:rPr>
              <a:t>.Procedure</a:t>
            </a:r>
            <a:r>
              <a:rPr/>
              <a:t> before numbered steps in procedure files.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1: Describe the Problem</a:t>
            </a:r>
          </a:p>
        </p:txBody>
      </p:sp>
      <p:sp>
        <p:nvSpPr>
          <p:cNvPr id="3" name="Content Placeholder 2"/>
          <p:cNvSpPr>
            <a:spLocks noGrp="1"/>
          </p:cNvSpPr>
          <p:nvPr>
            <p:ph idx="1"/>
          </p:nvPr>
        </p:nvSpPr>
        <p:spPr/>
        <p:txBody>
          <a:bodyPr/>
          <a:lstStyle/>
          <a:p>
            <a:pPr lvl="0" indent="0" marL="0">
              <a:buNone/>
            </a:pPr>
            <a:r>
              <a:rPr/>
              <a:t>The first prompt to Claude Code:</a:t>
            </a:r>
          </a:p>
          <a:p>
            <a:pPr lvl="0" indent="0">
              <a:buNone/>
            </a:pPr>
            <a:r>
              <a:rPr>
                <a:latin typeface="Courier"/>
              </a:rPr>
              <a:t>Look at proc_advanced-configuration-mapping.adoc.
Vale generated the following warning:
 modules/proc_advanced-configuration-mapping.adoc
 1:1  warning  The '.Procedure' block title is missing.    AsciiDocDITA.TaskContents
Read ~/doc-utils/CLAUDE.md and then create a script in ~/doc-utils that inserts
a .Procedure block title above the numbered steps in the target file.</a:t>
            </a:r>
          </a:p>
          <a:p>
            <a:pPr lvl="0" indent="0" marL="0">
              <a:buNone/>
            </a:pPr>
            <a:r>
              <a:rPr b="1"/>
              <a:t>What worked well:</a:t>
            </a:r>
            <a:r>
              <a:rPr/>
              <a:t> - Pointed to the specific file with the problem - Included the exact error message (copy-pasted from Vale output) - Referenced CLAUDE.md for project context - Described the desired outcome</a:t>
            </a:r>
          </a:p>
          <a:p>
            <a:pPr lvl="0" indent="0" marL="0">
              <a:buNone/>
            </a:pPr>
            <a:r>
              <a:rPr b="1"/>
              <a:t>What could be better:</a:t>
            </a:r>
          </a:p>
          <a:p>
            <a:pPr lvl="0" indent="0">
              <a:buNone/>
            </a:pPr>
            <a:r>
              <a:rPr>
                <a:latin typeface="Courier"/>
              </a:rPr>
              <a:t>Look at proc_advanced-configuration-mapping.adoc.
Vale generated the following warning:
 modules/proc_advanced-configuration-mapping.adoc
 1:1  warning  The '.Procedure' block title is missing.    AsciiDocDITA.TaskContents
Read ~/doc-utils/CLAUDE.md and then create a script in ~/doc-utils that inserts
a .Procedure block title above the numbered steps in the target file.
Also look at proc_adding-yaml-configuration-support.adoc as an example of a
procedure file that already has the correct .Procedure block title.</a:t>
            </a:r>
          </a:p>
          <a:p>
            <a:pPr lvl="0" indent="0" marL="0">
              <a:buNone/>
            </a:pPr>
            <a:r>
              <a:rPr/>
              <a:t>Adding an example of the </a:t>
            </a:r>
            <a:r>
              <a:rPr i="1"/>
              <a:t>correct</a:t>
            </a:r>
            <a:r>
              <a:rPr/>
              <a:t> format helps Claude understand the goal without guessing.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2: Claude Explores the Codebase</a:t>
            </a:r>
          </a:p>
        </p:txBody>
      </p:sp>
      <p:sp>
        <p:nvSpPr>
          <p:cNvPr id="3" name="Content Placeholder 2"/>
          <p:cNvSpPr>
            <a:spLocks noGrp="1"/>
          </p:cNvSpPr>
          <p:nvPr>
            <p:ph idx="1"/>
          </p:nvPr>
        </p:nvSpPr>
        <p:spPr/>
        <p:txBody>
          <a:bodyPr/>
          <a:lstStyle/>
          <a:p>
            <a:pPr lvl="0" indent="0" marL="0">
              <a:buNone/>
            </a:pPr>
            <a:r>
              <a:rPr/>
              <a:t>Before writing any code, Claude:</a:t>
            </a:r>
          </a:p>
          <a:p>
            <a:pPr lvl="0" indent="-342900" marL="342900">
              <a:buAutoNum type="arabicPeriod"/>
            </a:pPr>
            <a:r>
              <a:rPr b="1"/>
              <a:t>Read the target file</a:t>
            </a:r>
            <a:r>
              <a:rPr/>
              <a:t> to understand its structure</a:t>
            </a:r>
          </a:p>
          <a:p>
            <a:pPr lvl="0" indent="-342900" marL="342900">
              <a:buAutoNum type="arabicPeriod"/>
            </a:pPr>
            <a:r>
              <a:rPr b="1"/>
              <a:t>Read CLAUDE.md</a:t>
            </a:r>
            <a:r>
              <a:rPr/>
              <a:t> to learn project conventions (naming, structure, installation)</a:t>
            </a:r>
          </a:p>
          <a:p>
            <a:pPr lvl="0" indent="-342900" marL="342900">
              <a:buAutoNum type="arabicPeriod"/>
            </a:pPr>
            <a:r>
              <a:rPr b="1"/>
              <a:t>Found other procedure files</a:t>
            </a:r>
            <a:r>
              <a:rPr/>
              <a:t> to understand the pattern</a:t>
            </a:r>
          </a:p>
          <a:p>
            <a:pPr lvl="0" indent="-342900" marL="342900">
              <a:buAutoNum type="arabicPeriod"/>
            </a:pPr>
            <a:r>
              <a:rPr b="1"/>
              <a:t>Examined files with </a:t>
            </a:r>
            <a:r>
              <a:rPr b="1">
                <a:latin typeface="Courier"/>
              </a:rPr>
              <a:t>.Procedure</a:t>
            </a:r>
            <a:r>
              <a:rPr/>
              <a:t> to see the expected format</a:t>
            </a:r>
          </a:p>
          <a:p>
            <a:pPr lvl="0" indent="0" marL="0">
              <a:buNone/>
            </a:pPr>
            <a:r>
              <a:rPr/>
              <a:t>This exploration revealed: - Procedure files have </a:t>
            </a:r>
            <a:r>
              <a:rPr>
                <a:latin typeface="Courier"/>
              </a:rPr>
              <a:t>:_mod-docs-content-type: PROCEDURE</a:t>
            </a:r>
            <a:r>
              <a:rPr/>
              <a:t> - Steps use AsciiDoc ordered list format (</a:t>
            </a:r>
            <a:r>
              <a:rPr>
                <a:latin typeface="Courier"/>
              </a:rPr>
              <a:t>. Step text</a:t>
            </a:r>
            <a:r>
              <a:rPr/>
              <a:t>) - </a:t>
            </a:r>
            <a:r>
              <a:rPr>
                <a:latin typeface="Courier"/>
              </a:rPr>
              <a:t>.Procedure</a:t>
            </a:r>
            <a:r>
              <a:rPr/>
              <a:t> appears on its own line before the steps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3: First Draft</a:t>
            </a:r>
          </a:p>
        </p:txBody>
      </p:sp>
      <p:sp>
        <p:nvSpPr>
          <p:cNvPr id="3" name="Content Placeholder 2"/>
          <p:cNvSpPr>
            <a:spLocks noGrp="1"/>
          </p:cNvSpPr>
          <p:nvPr>
            <p:ph idx="1"/>
          </p:nvPr>
        </p:nvSpPr>
        <p:spPr/>
        <p:txBody>
          <a:bodyPr/>
          <a:lstStyle/>
          <a:p>
            <a:pPr lvl="0" indent="0" marL="0">
              <a:buNone/>
            </a:pPr>
            <a:r>
              <a:rPr/>
              <a:t>Claude created </a:t>
            </a:r>
            <a:r>
              <a:rPr>
                <a:latin typeface="Courier"/>
              </a:rPr>
              <a:t>insert_procedure_title.py</a:t>
            </a:r>
            <a:r>
              <a:rPr/>
              <a:t> with: - Detection of procedure files - Finding numbered steps - Checking for existing </a:t>
            </a:r>
            <a:r>
              <a:rPr>
                <a:latin typeface="Courier"/>
              </a:rPr>
              <a:t>.Procedure</a:t>
            </a:r>
            <a:r>
              <a:rPr/>
              <a:t> - Inserting the block title if missing - Dry-run and verbose modes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4: Testing Revealed Issues</a:t>
            </a:r>
          </a:p>
        </p:txBody>
      </p:sp>
      <p:sp>
        <p:nvSpPr>
          <p:cNvPr id="3" name="Content Placeholder 2"/>
          <p:cNvSpPr>
            <a:spLocks noGrp="1"/>
          </p:cNvSpPr>
          <p:nvPr>
            <p:ph idx="1"/>
          </p:nvPr>
        </p:nvSpPr>
        <p:spPr/>
        <p:txBody>
          <a:bodyPr/>
          <a:lstStyle/>
          <a:p>
            <a:pPr lvl="0" indent="0" marL="0">
              <a:buNone/>
            </a:pPr>
            <a:r>
              <a:rPr/>
              <a:t>Running the script on the original file:</a:t>
            </a:r>
          </a:p>
          <a:p>
            <a:pPr lvl="0" indent="0">
              <a:buNone/>
            </a:pPr>
            <a:r>
              <a:rPr>
                <a:latin typeface="Courier"/>
              </a:rPr>
              <a:t>$ insert-procedure-title modules/proc_advanced-configuration-mapping.adoc --dry-run
No changes needed: modules/proc_advanced-configuration-mapping.adoc</a:t>
            </a:r>
          </a:p>
          <a:p>
            <a:pPr lvl="0" indent="0" marL="0">
              <a:buNone/>
            </a:pPr>
            <a:r>
              <a:rPr/>
              <a:t>The file had no numbered steps—it was incomplete. The script silently did nothing.</a:t>
            </a:r>
          </a:p>
          <a:p>
            <a:pPr lvl="0" indent="0" marL="0">
              <a:buNone/>
            </a:pPr>
            <a:r>
              <a:rPr b="1"/>
              <a:t>The actual feedback given to Claude:</a:t>
            </a:r>
          </a:p>
          <a:p>
            <a:pPr lvl="0" indent="0">
              <a:buNone/>
            </a:pPr>
            <a:r>
              <a:rPr>
                <a:latin typeface="Courier"/>
              </a:rPr>
              <a:t>modules/proc_advanced-configuration-mapping.adoc doesn't have any numbered steps.
In this case, the script should print a warning to stderr.</a:t>
            </a:r>
          </a:p>
          <a:p>
            <a:pPr lvl="0" indent="0" marL="0">
              <a:buNone/>
            </a:pPr>
            <a:r>
              <a:rPr b="1"/>
              <a:t>What could be better:</a:t>
            </a:r>
          </a:p>
          <a:p>
            <a:pPr lvl="0" indent="0">
              <a:buNone/>
            </a:pPr>
            <a:r>
              <a:rPr>
                <a:latin typeface="Courier"/>
              </a:rPr>
              <a:t>modules/proc_advanced-configuration-mapping.adoc doesn't have any numbered steps.
In this case, the script should:
1. Print a warning to stderr identifying the file
2. Continue processing other files
3. Summarize how many files had this issue at the end
This helps writers identify incomplete procedure files that need content added.</a:t>
            </a:r>
          </a:p>
          <a:p>
            <a:pPr lvl="0" indent="0" marL="0">
              <a:buNone/>
            </a:pPr>
            <a:r>
              <a:rPr/>
              <a:t>Being explicit about the desired behavior (warn but continue, summarize at end) saves a round of iteration.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5: Iterating on the Design</a:t>
            </a:r>
          </a:p>
        </p:txBody>
      </p:sp>
      <p:sp>
        <p:nvSpPr>
          <p:cNvPr id="3" name="Content Placeholder 2"/>
          <p:cNvSpPr>
            <a:spLocks noGrp="1"/>
          </p:cNvSpPr>
          <p:nvPr>
            <p:ph idx="1"/>
          </p:nvPr>
        </p:nvSpPr>
        <p:spPr/>
        <p:txBody>
          <a:bodyPr/>
          <a:lstStyle/>
          <a:p>
            <a:pPr lvl="0" indent="0" marL="0">
              <a:buNone/>
            </a:pPr>
            <a:r>
              <a:rPr/>
              <a:t>Claude updated the script to: - Detect when a procedure file has no numbered steps - Print a warning for incomplete files - Track and summarize warnings at the end</a:t>
            </a:r>
          </a:p>
          <a:p>
            <a:pPr lvl="0" indent="0" marL="0">
              <a:buNone/>
            </a:pPr>
            <a:r>
              <a:rPr/>
              <a:t>New output:</a:t>
            </a:r>
          </a:p>
          <a:p>
            <a:pPr lvl="0" indent="0">
              <a:buNone/>
            </a:pPr>
            <a:r>
              <a:rPr>
                <a:latin typeface="Courier"/>
              </a:rPr>
              <a:t>Warning: Procedure file has no numbered steps: modules/proc_advanced-configuration-mapping.adoc
Complete. 0 file(s) modified.
Warnings: 1 procedure file(s) have no numbered steps.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6: Finding Edge Cases</a:t>
            </a:r>
          </a:p>
        </p:txBody>
      </p:sp>
      <p:sp>
        <p:nvSpPr>
          <p:cNvPr id="3" name="Content Placeholder 2"/>
          <p:cNvSpPr>
            <a:spLocks noGrp="1"/>
          </p:cNvSpPr>
          <p:nvPr>
            <p:ph idx="1"/>
          </p:nvPr>
        </p:nvSpPr>
        <p:spPr/>
        <p:txBody>
          <a:bodyPr/>
          <a:lstStyle/>
          <a:p>
            <a:pPr lvl="0" indent="0" marL="0">
              <a:buNone/>
            </a:pPr>
            <a:r>
              <a:rPr/>
              <a:t>Testing on a larger set of files revealed a false positive—a file that already had </a:t>
            </a:r>
            <a:r>
              <a:rPr>
                <a:latin typeface="Courier"/>
              </a:rPr>
              <a:t>.Procedure</a:t>
            </a:r>
            <a:r>
              <a:rPr/>
              <a:t> was flagged for modification. The issue: the file had sub-headings between </a:t>
            </a:r>
            <a:r>
              <a:rPr>
                <a:latin typeface="Courier"/>
              </a:rPr>
              <a:t>.Procedure</a:t>
            </a:r>
            <a:r>
              <a:rPr/>
              <a:t> and the actual steps.</a:t>
            </a:r>
          </a:p>
          <a:p>
            <a:pPr lvl="0" indent="0" marL="0">
              <a:buNone/>
            </a:pPr>
            <a:r>
              <a:rPr/>
              <a:t>Claude fixed the detection logic to continue searching backward past other block titles until hitting a section heading.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7: More Edge Cases During Validation</a:t>
            </a:r>
          </a:p>
        </p:txBody>
      </p:sp>
      <p:sp>
        <p:nvSpPr>
          <p:cNvPr id="3" name="Content Placeholder 2"/>
          <p:cNvSpPr>
            <a:spLocks noGrp="1"/>
          </p:cNvSpPr>
          <p:nvPr>
            <p:ph idx="1"/>
          </p:nvPr>
        </p:nvSpPr>
        <p:spPr/>
        <p:txBody>
          <a:bodyPr/>
          <a:lstStyle/>
          <a:p>
            <a:pPr lvl="0" indent="0" marL="0">
              <a:buNone/>
            </a:pPr>
            <a:r>
              <a:rPr/>
              <a:t>Running the tool on the full modules directory showed 12 warnings. Reviewing these revealed another pattern: some procedure files use unordered lists (</a:t>
            </a:r>
            <a:r>
              <a:rPr>
                <a:latin typeface="Courier"/>
              </a:rPr>
              <a:t>*</a:t>
            </a:r>
            <a:r>
              <a:rPr/>
              <a:t> bullets) instead of numbered steps, but they already have </a:t>
            </a:r>
            <a:r>
              <a:rPr>
                <a:latin typeface="Courier"/>
              </a:rPr>
              <a:t>.Procedure</a:t>
            </a:r>
            <a:r>
              <a:rPr/>
              <a:t>:</a:t>
            </a:r>
          </a:p>
          <a:p>
            <a:pPr lvl="0" indent="0">
              <a:buNone/>
            </a:pPr>
            <a:r>
              <a:rPr>
                <a:latin typeface="Courier"/>
              </a:rPr>
              <a:t>.Procedure
* Use a method to access the value of a configuration property...</a:t>
            </a:r>
          </a:p>
          <a:p>
            <a:pPr lvl="0" indent="0" marL="0">
              <a:buNone/>
            </a:pPr>
            <a:r>
              <a:rPr/>
              <a:t>These files don’t need modification—they’re valid procedures, just using a different list style.</a:t>
            </a:r>
          </a:p>
          <a:p>
            <a:pPr lvl="0" indent="0" marL="0">
              <a:buNone/>
            </a:pPr>
            <a:r>
              <a:rPr b="1"/>
              <a:t>The prompt:</a:t>
            </a:r>
          </a:p>
          <a:p>
            <a:pPr lvl="0" indent="0">
              <a:buNone/>
            </a:pPr>
            <a:r>
              <a:rPr>
                <a:latin typeface="Courier"/>
              </a:rPr>
              <a:t>Update insert-procedure-title to ignore files that contain `.Procedure`.
In some cases, like this one, a procedure consists of an unordered list.</a:t>
            </a:r>
          </a:p>
          <a:p>
            <a:pPr lvl="0" indent="0" marL="0">
              <a:buNone/>
            </a:pPr>
            <a:r>
              <a:rPr/>
              <a:t>Claude updated the logic to check for an existing </a:t>
            </a:r>
            <a:r>
              <a:rPr>
                <a:latin typeface="Courier"/>
              </a:rPr>
              <a:t>.Procedure</a:t>
            </a:r>
            <a:r>
              <a:rPr/>
              <a:t> title </a:t>
            </a:r>
            <a:r>
              <a:rPr i="1"/>
              <a:t>before</a:t>
            </a:r>
            <a:r>
              <a:rPr/>
              <a:t> warning about missing numbered steps. The warnings dropped from 12 to 4—the remaining files genuinely need attention.</a:t>
            </a:r>
          </a:p>
          <a:p>
            <a:pPr lvl="0" indent="0" marL="0">
              <a:buNone/>
            </a:pPr>
            <a:r>
              <a:rPr b="1"/>
              <a:t>Key insight:</a:t>
            </a:r>
            <a:r>
              <a:rPr/>
              <a:t> Validation doesn’t end when the tool “works.” Running it on real content at scale often reveals assumptions that don’t hold. In this case, the assumption was that all procedures use numbered steps.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8: Installation and Integration</a:t>
            </a:r>
          </a:p>
        </p:txBody>
      </p:sp>
      <p:sp>
        <p:nvSpPr>
          <p:cNvPr id="3" name="Content Placeholder 2"/>
          <p:cNvSpPr>
            <a:spLocks noGrp="1"/>
          </p:cNvSpPr>
          <p:nvPr>
            <p:ph idx="1"/>
          </p:nvPr>
        </p:nvSpPr>
        <p:spPr/>
        <p:txBody>
          <a:bodyPr/>
          <a:lstStyle/>
          <a:p>
            <a:pPr lvl="0" indent="0" marL="0">
              <a:buNone/>
            </a:pPr>
            <a:r>
              <a:rPr/>
              <a:t>With the script working (the first time), the next prompt was simply:</a:t>
            </a:r>
          </a:p>
          <a:p>
            <a:pPr lvl="0" indent="0">
              <a:buNone/>
            </a:pPr>
            <a:r>
              <a:rPr>
                <a:latin typeface="Courier"/>
              </a:rPr>
              <a:t>install pipx</a:t>
            </a:r>
          </a:p>
          <a:p>
            <a:pPr lvl="0" indent="0" marL="0">
              <a:buNone/>
            </a:pPr>
            <a:r>
              <a:rPr/>
              <a:t>Claude knew from CLAUDE.md to run:</a:t>
            </a:r>
          </a:p>
          <a:p>
            <a:pPr lvl="0" indent="0">
              <a:buNone/>
            </a:pPr>
            <a:r>
              <a:rPr>
                <a:solidFill>
                  <a:srgbClr val="008000"/>
                </a:solidFill>
                <a:latin typeface="Courier"/>
              </a:rPr>
              <a:t>cd</a:t>
            </a:r>
            <a:r>
              <a:rPr>
                <a:latin typeface="Courier"/>
              </a:rPr>
              <a:t> /home/rdlugyhe/doc-utils</a:t>
            </a:r>
            <a:br/>
            <a:r>
              <a:rPr>
                <a:solidFill>
                  <a:srgbClr val="06287E"/>
                </a:solidFill>
                <a:latin typeface="Courier"/>
              </a:rPr>
              <a:t>rm</a:t>
            </a:r>
            <a:r>
              <a:rPr>
                <a:latin typeface="Courier"/>
              </a:rPr>
              <a:t> </a:t>
            </a:r>
            <a:r>
              <a:rPr>
                <a:solidFill>
                  <a:srgbClr val="7D9029"/>
                </a:solidFill>
                <a:latin typeface="Courier"/>
              </a:rPr>
              <a:t>-rf</a:t>
            </a:r>
            <a:r>
              <a:rPr>
                <a:latin typeface="Courier"/>
              </a:rPr>
              <a:t> build/ </a:t>
            </a:r>
            <a:r>
              <a:rPr>
                <a:solidFill>
                  <a:srgbClr val="BC7A00"/>
                </a:solidFill>
                <a:latin typeface="Courier"/>
              </a:rPr>
              <a:t>*</a:t>
            </a:r>
            <a:r>
              <a:rPr>
                <a:latin typeface="Courier"/>
              </a:rPr>
              <a:t>.egg-info</a:t>
            </a:r>
            <a:br/>
            <a:r>
              <a:rPr>
                <a:latin typeface="Courier"/>
              </a:rPr>
              <a:t>pipx install </a:t>
            </a:r>
            <a:r>
              <a:rPr>
                <a:solidFill>
                  <a:srgbClr val="7D9029"/>
                </a:solidFill>
                <a:latin typeface="Courier"/>
              </a:rPr>
              <a:t>--force</a:t>
            </a:r>
            <a:r>
              <a:rPr>
                <a:latin typeface="Courier"/>
              </a:rPr>
              <a:t> </a:t>
            </a:r>
            <a:r>
              <a:rPr>
                <a:solidFill>
                  <a:srgbClr val="7D9029"/>
                </a:solidFill>
                <a:latin typeface="Courier"/>
              </a:rPr>
              <a:t>--editable</a:t>
            </a:r>
            <a:r>
              <a:rPr>
                <a:latin typeface="Courier"/>
              </a:rPr>
              <a:t> .</a:t>
            </a:r>
          </a:p>
          <a:p>
            <a:pPr lvl="0" indent="0" marL="0">
              <a:buNone/>
            </a:pPr>
            <a:r>
              <a:rPr/>
              <a:t>When stale symlinks caused warnings, the follow-up was:</a:t>
            </a:r>
          </a:p>
          <a:p>
            <a:pPr lvl="0" indent="0">
              <a:buNone/>
            </a:pPr>
            <a:r>
              <a:rPr>
                <a:latin typeface="Courier"/>
              </a:rPr>
              <a:t>yes</a:t>
            </a:r>
          </a:p>
          <a:p>
            <a:pPr lvl="0" indent="0" marL="0">
              <a:buNone/>
            </a:pPr>
            <a:r>
              <a:rPr/>
              <a:t>(In response to Claude asking “Want me to clean those up?”)</a:t>
            </a:r>
          </a:p>
          <a:p>
            <a:pPr lvl="0" indent="0" marL="0">
              <a:buNone/>
            </a:pPr>
            <a:r>
              <a:rPr b="1"/>
              <a:t>What could be better:</a:t>
            </a:r>
          </a:p>
          <a:p>
            <a:pPr lvl="0" indent="0">
              <a:buNone/>
            </a:pPr>
            <a:r>
              <a:rPr>
                <a:latin typeface="Courier"/>
              </a:rPr>
              <a:t>Add insert-procedure-title to pyproject.toml and install with pipx.</a:t>
            </a:r>
          </a:p>
          <a:p>
            <a:pPr lvl="0" indent="0" marL="0">
              <a:buNone/>
            </a:pPr>
            <a:r>
              <a:rPr/>
              <a:t>Being explicit about adding to pyproject.toml ensures Claude doesn’t forget that step. In this case, Claude handled it correctly because CLAUDE.md documents the process.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9: Documentation</a:t>
            </a:r>
          </a:p>
        </p:txBody>
      </p:sp>
      <p:sp>
        <p:nvSpPr>
          <p:cNvPr id="3" name="Content Placeholder 2"/>
          <p:cNvSpPr>
            <a:spLocks noGrp="1"/>
          </p:cNvSpPr>
          <p:nvPr>
            <p:ph idx="1"/>
          </p:nvPr>
        </p:nvSpPr>
        <p:spPr/>
        <p:txBody>
          <a:bodyPr/>
          <a:lstStyle/>
          <a:p>
            <a:pPr lvl="0" indent="0" marL="0">
              <a:buNone/>
            </a:pPr>
            <a:r>
              <a:rPr/>
              <a:t>The prompt for documentation:</a:t>
            </a:r>
          </a:p>
          <a:p>
            <a:pPr lvl="0" indent="0">
              <a:buNone/>
            </a:pPr>
            <a:r>
              <a:rPr>
                <a:latin typeface="Courier"/>
              </a:rPr>
              <a:t>create user docs for insert-procedure-title in ~/doc-utils/docs</a:t>
            </a:r>
          </a:p>
          <a:p>
            <a:pPr lvl="0" indent="0" marL="0">
              <a:buNone/>
            </a:pPr>
            <a:r>
              <a:rPr/>
              <a:t>Claude: 1. Read an existing tool doc (</a:t>
            </a:r>
            <a:r>
              <a:rPr>
                <a:latin typeface="Courier"/>
              </a:rPr>
              <a:t>insert-abstract-role.md</a:t>
            </a:r>
            <a:r>
              <a:rPr/>
              <a:t>) to match the format 2. Checked nav_order values to pick the next number 3. Created </a:t>
            </a:r>
            <a:r>
              <a:rPr>
                <a:latin typeface="Courier"/>
              </a:rPr>
              <a:t>docs/tools/insert-procedure-title.md</a:t>
            </a:r>
            <a:r>
              <a:rPr/>
              <a:t> with examples and use cases 4. Updated </a:t>
            </a:r>
            <a:r>
              <a:rPr>
                <a:latin typeface="Courier"/>
              </a:rPr>
              <a:t>docs/tools/index.md</a:t>
            </a:r>
            <a:r>
              <a:rPr/>
              <a:t> with the new tool entry</a:t>
            </a:r>
          </a:p>
          <a:p>
            <a:pPr lvl="0" indent="0" marL="0">
              <a:buNone/>
            </a:pPr>
            <a:r>
              <a:rPr b="1"/>
              <a:t>What could be better:</a:t>
            </a:r>
          </a:p>
          <a:p>
            <a:pPr lvl="0" indent="0">
              <a:buNone/>
            </a:pPr>
            <a:r>
              <a:rPr>
                <a:latin typeface="Courier"/>
              </a:rPr>
              <a:t>Create user docs for insert-procedure-title in ~/doc-utils/docs/tools/.
Follow the format of insert-abstract-role.md since it's a similar tool.
Include before/after examples showing the .Procedure insertion.</a:t>
            </a:r>
          </a:p>
          <a:p>
            <a:pPr lvl="0" indent="0" marL="0">
              <a:buNone/>
            </a:pPr>
            <a:r>
              <a:rPr/>
              <a:t>Pointing to a specific template and requesting examples helps Claude produce documentation that matches your style.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10: Validation at Scale</a:t>
            </a:r>
          </a:p>
        </p:txBody>
      </p:sp>
      <p:sp>
        <p:nvSpPr>
          <p:cNvPr id="3" name="Content Placeholder 2"/>
          <p:cNvSpPr>
            <a:spLocks noGrp="1"/>
          </p:cNvSpPr>
          <p:nvPr>
            <p:ph idx="1"/>
          </p:nvPr>
        </p:nvSpPr>
        <p:spPr/>
        <p:txBody>
          <a:bodyPr/>
          <a:lstStyle/>
          <a:p>
            <a:pPr lvl="0" indent="0" marL="0">
              <a:buNone/>
            </a:pPr>
            <a:r>
              <a:rPr/>
              <a:t>Validation isn’t just about refining the tool—it’s about completing the work that prompted you to create the tool in the first place. The goal is to resolve the specific Vale error or warning, then move on to the next one.</a:t>
            </a:r>
          </a:p>
          <a:p>
            <a:pPr lvl="0" indent="0" marL="0">
              <a:spcBef>
                <a:spcPts val="3000"/>
              </a:spcBef>
              <a:buNone/>
            </a:pPr>
            <a:r>
              <a:rPr b="1"/>
              <a:t>Work Through the Warnings</a:t>
            </a:r>
          </a:p>
          <a:p>
            <a:pPr lvl="0" indent="0" marL="0">
              <a:buNone/>
            </a:pPr>
            <a:r>
              <a:rPr/>
              <a:t>When you run your new tool and see warnings, investigate each one:</a:t>
            </a:r>
          </a:p>
          <a:p>
            <a:pPr lvl="0" indent="0">
              <a:buNone/>
            </a:pPr>
            <a:r>
              <a:rPr>
                <a:latin typeface="Courier"/>
              </a:rPr>
              <a:t>Warning: Procedure file has no numbered steps and no .Procedure title: modules/proc_advanced-configuration-mapping.adoc
Warning: Procedure file has no numbered steps and no .Procedure title: modules/proc_configuring-quarkus-developer-tools.adoc</a:t>
            </a:r>
          </a:p>
          <a:p>
            <a:pPr lvl="0" indent="0" marL="0">
              <a:buNone/>
            </a:pPr>
            <a:r>
              <a:rPr/>
              <a:t>These warnings aren’t failures—they’re the tool doing its job. Each warning is a file that needs attention.</a:t>
            </a:r>
          </a:p>
          <a:p>
            <a:pPr lvl="0" indent="0" marL="0">
              <a:spcBef>
                <a:spcPts val="3000"/>
              </a:spcBef>
              <a:buNone/>
            </a:pPr>
            <a:r>
              <a:rPr b="1"/>
              <a:t>Warnings Reveal Content Issues</a:t>
            </a:r>
          </a:p>
          <a:p>
            <a:pPr lvl="0" indent="0" marL="0">
              <a:buNone/>
            </a:pPr>
            <a:r>
              <a:rPr/>
              <a:t>In this case, investigating the warnings revealed </a:t>
            </a:r>
            <a:r>
              <a:rPr b="1"/>
              <a:t>orphaned stub files</a:t>
            </a:r>
            <a:r>
              <a:rPr/>
              <a:t>. The file </a:t>
            </a:r>
            <a:r>
              <a:rPr>
                <a:latin typeface="Courier"/>
              </a:rPr>
              <a:t>proc_advanced-configuration-mapping.adoc</a:t>
            </a:r>
            <a:r>
              <a:rPr/>
              <a:t> contained only:</a:t>
            </a:r>
          </a:p>
          <a:p>
            <a:pPr lvl="0" indent="0">
              <a:buNone/>
            </a:pPr>
            <a:r>
              <a:rPr>
                <a:latin typeface="Courier"/>
              </a:rPr>
              <a:t>:_mod-docs-content-type: PROCEDURE
[id="proc_advanced-configuration-mapping"]
= Advanced configuration mapping
[role="_abstract"]
The following advanced mapping procedure is an extension that is specific to {ProductLongName} and outside of the MicroProfile Config specification.</a:t>
            </a:r>
          </a:p>
          <a:p>
            <a:pPr lvl="0" indent="0" marL="0">
              <a:buNone/>
            </a:pPr>
            <a:r>
              <a:rPr/>
              <a:t>No actual procedure content—just a title and abstract. This stub was acting as a section heading in the assembly, with a real procedure nested under it at </a:t>
            </a:r>
            <a:r>
              <a:rPr>
                <a:latin typeface="Courier"/>
              </a:rPr>
              <a:t>leveloffset=+2</a:t>
            </a:r>
            <a:r>
              <a:rPr/>
              <a:t>.</a:t>
            </a:r>
          </a:p>
          <a:p>
            <a:pPr lvl="0" indent="0" marL="0">
              <a:spcBef>
                <a:spcPts val="3000"/>
              </a:spcBef>
              <a:buNone/>
            </a:pPr>
            <a:r>
              <a:rPr b="1"/>
              <a:t>Fix the Content, Not Just the Warning</a:t>
            </a:r>
          </a:p>
          <a:p>
            <a:pPr lvl="0" indent="0" marL="0">
              <a:buNone/>
            </a:pPr>
            <a:r>
              <a:rPr/>
              <a:t>Instead of adding an empty </a:t>
            </a:r>
            <a:r>
              <a:rPr>
                <a:latin typeface="Courier"/>
              </a:rPr>
              <a:t>.Procedure</a:t>
            </a:r>
            <a:r>
              <a:rPr/>
              <a:t> section to silence the warning, we analyzed the assembly structure:</a:t>
            </a:r>
          </a:p>
          <a:p>
            <a:pPr lvl="0" indent="0">
              <a:buNone/>
            </a:pPr>
            <a:r>
              <a:rPr>
                <a:latin typeface="Courier"/>
              </a:rPr>
              <a:t>include::modules/proc_advanced-configuration-mapping.adoc[leveloffset=+1]
include::modules/proc_using-nested-object-configuration.adoc[leveloffset=+2]</a:t>
            </a:r>
          </a:p>
          <a:p>
            <a:pPr lvl="0" indent="0" marL="0">
              <a:buNone/>
            </a:pPr>
            <a:r>
              <a:rPr/>
              <a:t>The stub was a parent heading with the actual content as a child. The fix:</a:t>
            </a:r>
          </a:p>
          <a:p>
            <a:pPr lvl="0" indent="-342900" marL="342900">
              <a:buAutoNum type="arabicPeriod"/>
            </a:pPr>
            <a:r>
              <a:rPr b="1"/>
              <a:t>Incorporated useful context</a:t>
            </a:r>
            <a:r>
              <a:rPr/>
              <a:t> from the stub’s abstract into the child procedure</a:t>
            </a:r>
          </a:p>
          <a:p>
            <a:pPr lvl="0" indent="-342900" marL="342900">
              <a:buAutoNum type="arabicPeriod"/>
            </a:pPr>
            <a:r>
              <a:rPr b="1"/>
              <a:t>Deleted the stub file</a:t>
            </a:r>
          </a:p>
          <a:p>
            <a:pPr lvl="0" indent="-342900" marL="342900">
              <a:buAutoNum type="arabicPeriod"/>
            </a:pPr>
            <a:r>
              <a:rPr b="1"/>
              <a:t>Adjusted the leveloffset</a:t>
            </a:r>
            <a:r>
              <a:rPr/>
              <a:t> from </a:t>
            </a:r>
            <a:r>
              <a:rPr>
                <a:latin typeface="Courier"/>
              </a:rPr>
              <a:t>+2</a:t>
            </a:r>
            <a:r>
              <a:rPr/>
              <a:t> to </a:t>
            </a:r>
            <a:r>
              <a:rPr>
                <a:latin typeface="Courier"/>
              </a:rPr>
              <a:t>+1</a:t>
            </a:r>
          </a:p>
          <a:p>
            <a:pPr lvl="0" indent="0" marL="0">
              <a:buNone/>
            </a:pPr>
            <a:r>
              <a:rPr/>
              <a:t>The same pattern appeared with </a:t>
            </a:r>
            <a:r>
              <a:rPr>
                <a:latin typeface="Courier"/>
              </a:rPr>
              <a:t>proc_configuring-quarkus-developer-tools.adoc</a:t>
            </a:r>
            <a:r>
              <a:rPr/>
              <a:t>—another stub with no content, nested procedures underneath. Same solution: evaluate whether to incorporate content, delete the stub, flatten the hierarchy.</a:t>
            </a:r>
          </a:p>
          <a:p>
            <a:pPr lvl="0" indent="0" marL="0">
              <a:spcBef>
                <a:spcPts val="3000"/>
              </a:spcBef>
              <a:buNone/>
            </a:pPr>
            <a:r>
              <a:rPr b="1"/>
              <a:t>Enhance the Tool When Patterns Emerge</a:t>
            </a:r>
          </a:p>
          <a:p>
            <a:pPr lvl="0" indent="0" marL="0">
              <a:buNone/>
            </a:pPr>
            <a:r>
              <a:rPr/>
              <a:t>As you work through warnings, you might discover additional use cases:</a:t>
            </a:r>
          </a:p>
          <a:p>
            <a:pPr lvl="0"/>
            <a:r>
              <a:rPr b="1"/>
              <a:t>Files with unordered lists</a:t>
            </a:r>
            <a:r>
              <a:rPr/>
              <a:t> instead of numbered steps but already have </a:t>
            </a:r>
            <a:r>
              <a:rPr>
                <a:latin typeface="Courier"/>
              </a:rPr>
              <a:t>.Procedure</a:t>
            </a:r>
            <a:r>
              <a:rPr/>
              <a:t>—the tool shouldn’t warn about these</a:t>
            </a:r>
          </a:p>
          <a:p>
            <a:pPr lvl="0"/>
            <a:r>
              <a:rPr b="1"/>
              <a:t>Stub files</a:t>
            </a:r>
            <a:r>
              <a:rPr/>
              <a:t> that are technically PROCEDURE type but serve as section headings—these might warrant a different warning message</a:t>
            </a:r>
          </a:p>
          <a:p>
            <a:pPr lvl="0" indent="0" marL="0">
              <a:buNone/>
            </a:pPr>
            <a:r>
              <a:rPr/>
              <a:t>Each pattern can enhance the tool’s accuracy. But don’t get distracted perfecting the tool—complete the content work first, then circle back to tool improvements.</a:t>
            </a:r>
          </a:p>
          <a:p>
            <a:pPr lvl="0" indent="0" marL="0">
              <a:spcBef>
                <a:spcPts val="3000"/>
              </a:spcBef>
              <a:buNone/>
            </a:pPr>
            <a:r>
              <a:rPr b="1"/>
              <a:t>Close the Loop with Vale</a:t>
            </a:r>
          </a:p>
          <a:p>
            <a:pPr lvl="0" indent="0" marL="0">
              <a:buNone/>
            </a:pPr>
            <a:r>
              <a:rPr/>
              <a:t>When you’ve finished running your utility and manually fixing any issues the utility can’t address, rerun Vale on the same set of files. This confirms that your work has resolved every instance of the original issue:</a:t>
            </a:r>
          </a:p>
          <a:p>
            <a:pPr lvl="0" indent="0">
              <a:buNone/>
            </a:pPr>
            <a:r>
              <a:rPr>
                <a:latin typeface="Courier"/>
              </a:rPr>
              <a:t>vale modules/ </a:t>
            </a:r>
            <a:r>
              <a:rPr>
                <a:solidFill>
                  <a:srgbClr val="40A070"/>
                </a:solidFill>
                <a:latin typeface="Courier"/>
              </a:rPr>
              <a:t>2</a:t>
            </a:r>
            <a:r>
              <a:rPr>
                <a:solidFill>
                  <a:srgbClr val="666666"/>
                </a:solidFill>
                <a:latin typeface="Courier"/>
              </a:rPr>
              <a:t>&gt;&amp;</a:t>
            </a:r>
            <a:r>
              <a:rPr>
                <a:solidFill>
                  <a:srgbClr val="40A070"/>
                </a:solidFill>
                <a:latin typeface="Courier"/>
              </a:rPr>
              <a:t>1</a:t>
            </a:r>
            <a:r>
              <a:rPr>
                <a:latin typeface="Courier"/>
              </a:rPr>
              <a:t> </a:t>
            </a:r>
            <a:r>
              <a:rPr b="1">
                <a:solidFill>
                  <a:srgbClr val="007020"/>
                </a:solidFill>
                <a:latin typeface="Courier"/>
              </a:rPr>
              <a:t>|</a:t>
            </a:r>
            <a:r>
              <a:rPr>
                <a:latin typeface="Courier"/>
              </a:rPr>
              <a:t> </a:t>
            </a:r>
            <a:r>
              <a:rPr>
                <a:solidFill>
                  <a:srgbClr val="06287E"/>
                </a:solidFill>
                <a:latin typeface="Courier"/>
              </a:rPr>
              <a:t>grep</a:t>
            </a:r>
            <a:r>
              <a:rPr>
                <a:latin typeface="Courier"/>
              </a:rPr>
              <a:t> TaskContents</a:t>
            </a:r>
          </a:p>
          <a:p>
            <a:pPr lvl="0" indent="0" marL="0">
              <a:buNone/>
            </a:pPr>
            <a:r>
              <a:rPr/>
              <a:t>If the output is empty, you’ve cleared that Vale rule. Move on to the next one.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Role of CLAUDE.md</a:t>
            </a:r>
          </a:p>
        </p:txBody>
      </p:sp>
      <p:sp>
        <p:nvSpPr>
          <p:cNvPr id="3" name="Content Placeholder 2"/>
          <p:cNvSpPr>
            <a:spLocks noGrp="1"/>
          </p:cNvSpPr>
          <p:nvPr>
            <p:ph idx="1"/>
          </p:nvPr>
        </p:nvSpPr>
        <p:spPr/>
        <p:txBody>
          <a:bodyPr/>
          <a:lstStyle/>
          <a:p>
            <a:pPr lvl="0" indent="0" marL="0">
              <a:buNone/>
            </a:pPr>
            <a:r>
              <a:rPr/>
              <a:t>The </a:t>
            </a:r>
            <a:r>
              <a:rPr>
                <a:latin typeface="Courier"/>
              </a:rPr>
              <a:t>CLAUDE.md</a:t>
            </a:r>
            <a:r>
              <a:rPr/>
              <a:t> file in the project root is crucial for consistent results. It tells Claude:</a:t>
            </a:r>
          </a:p>
          <a:p>
            <a:pPr lvl="0"/>
            <a:r>
              <a:rPr b="1"/>
              <a:t>Project structure</a:t>
            </a:r>
            <a:r>
              <a:rPr/>
              <a:t>: Where files go, naming conventions</a:t>
            </a:r>
          </a:p>
          <a:p>
            <a:pPr lvl="0"/>
            <a:r>
              <a:rPr b="1"/>
              <a:t>Installation method</a:t>
            </a:r>
            <a:r>
              <a:rPr/>
              <a:t>: Use pipx, how to upgrade in development</a:t>
            </a:r>
          </a:p>
          <a:p>
            <a:pPr lvl="0"/>
            <a:r>
              <a:rPr b="1"/>
              <a:t>Entry points</a:t>
            </a:r>
            <a:r>
              <a:rPr/>
              <a:t>: How to add new CLI commands to </a:t>
            </a:r>
            <a:r>
              <a:rPr>
                <a:latin typeface="Courier"/>
              </a:rPr>
              <a:t>pyproject.toml</a:t>
            </a:r>
          </a:p>
          <a:p>
            <a:pPr lvl="0"/>
            <a:r>
              <a:rPr b="1"/>
              <a:t>Documentation patterns</a:t>
            </a:r>
            <a:r>
              <a:rPr/>
              <a:t>: Where docs live, what format to use</a:t>
            </a:r>
          </a:p>
          <a:p>
            <a:pPr lvl="0"/>
            <a:r>
              <a:rPr b="1"/>
              <a:t>Testing approach</a:t>
            </a:r>
            <a:r>
              <a:rPr/>
              <a:t>: How to run tests, what to test</a:t>
            </a:r>
          </a:p>
          <a:p>
            <a:pPr lvl="0" indent="0" marL="0">
              <a:buNone/>
            </a:pPr>
            <a:r>
              <a:rPr/>
              <a:t>Without CLAUDE.md, you’d need to explain these conventions in every prompt. With it, Claude follows project standards automatically.</a:t>
            </a:r>
          </a:p>
          <a:p>
            <a:pPr lvl="0" indent="0" marL="0">
              <a:buNone/>
            </a:pPr>
            <a:r>
              <a:rPr b="1"/>
              <a:t>Example from doc-utils CLAUDE.md:</a:t>
            </a:r>
          </a:p>
          <a:p>
            <a:pPr lvl="0" indent="0">
              <a:buNone/>
            </a:pPr>
            <a:r>
              <a:rPr>
                <a:solidFill>
                  <a:srgbClr val="06287E"/>
                </a:solidFill>
                <a:latin typeface="Courier"/>
              </a:rPr>
              <a:t>### CLI Tools</a:t>
            </a:r>
            <a:br/>
            <a:br/>
            <a:r>
              <a:rPr>
                <a:solidFill>
                  <a:srgbClr val="BB6688"/>
                </a:solidFill>
                <a:latin typeface="Courier"/>
              </a:rPr>
              <a:t>1. </a:t>
            </a:r>
            <a:r>
              <a:rPr>
                <a:latin typeface="Courier"/>
              </a:rPr>
              <a:t>**validate-links** - Validates all links in documentation</a:t>
            </a:r>
            <a:br/>
            <a:r>
              <a:rPr>
                <a:solidFill>
                  <a:srgbClr val="BB6688"/>
                </a:solidFill>
                <a:latin typeface="Courier"/>
              </a:rPr>
              <a:t>2. </a:t>
            </a:r>
            <a:r>
              <a:rPr>
                <a:latin typeface="Courier"/>
              </a:rPr>
              <a:t>**archive-unused-files** - Finds and archives unreferenced files</a:t>
            </a:r>
            <a:br/>
            <a:r>
              <a:rPr>
                <a:latin typeface="Courier"/>
              </a:rPr>
              <a:t>...</a:t>
            </a:r>
            <a:br/>
            <a:br/>
            <a:r>
              <a:rPr>
                <a:solidFill>
                  <a:srgbClr val="06287E"/>
                </a:solidFill>
                <a:latin typeface="Courier"/>
              </a:rPr>
              <a:t>### Documentation Updates for New Features</a:t>
            </a:r>
            <a:br/>
            <a:br/>
            <a:r>
              <a:rPr>
                <a:latin typeface="Courier"/>
              </a:rPr>
              <a:t>When adding a new tool or feature:</a:t>
            </a:r>
            <a:br/>
            <a:br/>
            <a:r>
              <a:rPr>
                <a:solidFill>
                  <a:srgbClr val="BB6688"/>
                </a:solidFill>
                <a:latin typeface="Courier"/>
              </a:rPr>
              <a:t>1. </a:t>
            </a:r>
            <a:r>
              <a:rPr>
                <a:latin typeface="Courier"/>
              </a:rPr>
              <a:t>Create tool documentation in </a:t>
            </a:r>
            <a:r>
              <a:rPr b="1" i="1">
                <a:solidFill>
                  <a:srgbClr val="60A0B0"/>
                </a:solidFill>
                <a:latin typeface="Courier"/>
              </a:rPr>
              <a:t>`docs/tools/[tool-name].md`</a:t>
            </a:r>
            <a:br/>
            <a:r>
              <a:rPr>
                <a:solidFill>
                  <a:srgbClr val="BB6688"/>
                </a:solidFill>
                <a:latin typeface="Courier"/>
              </a:rPr>
              <a:t>2. </a:t>
            </a:r>
            <a:r>
              <a:rPr>
                <a:latin typeface="Courier"/>
              </a:rPr>
              <a:t>Update </a:t>
            </a:r>
            <a:r>
              <a:rPr b="1" i="1">
                <a:solidFill>
                  <a:srgbClr val="60A0B0"/>
                </a:solidFill>
                <a:latin typeface="Courier"/>
              </a:rPr>
              <a:t>`docs/tools/index.md`</a:t>
            </a:r>
            <a:br/>
            <a:r>
              <a:rPr>
                <a:solidFill>
                  <a:srgbClr val="BB6688"/>
                </a:solidFill>
                <a:latin typeface="Courier"/>
              </a:rPr>
              <a:t>3. </a:t>
            </a:r>
            <a:r>
              <a:rPr>
                <a:latin typeface="Courier"/>
              </a:rPr>
              <a:t>Update README.md</a:t>
            </a:r>
            <a:br/>
            <a:r>
              <a:rPr>
                <a:solidFill>
                  <a:srgbClr val="BB6688"/>
                </a:solidFill>
                <a:latin typeface="Courier"/>
              </a:rPr>
              <a:t>4. </a:t>
            </a:r>
            <a:r>
              <a:rPr>
                <a:latin typeface="Courier"/>
              </a:rPr>
              <a:t>Update CLAUDE.md (this file)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Lessons for Technical Writers</a:t>
            </a:r>
          </a:p>
        </p:txBody>
      </p:sp>
      <p:sp>
        <p:nvSpPr>
          <p:cNvPr id="3" name="Content Placeholder 2"/>
          <p:cNvSpPr>
            <a:spLocks noGrp="1"/>
          </p:cNvSpPr>
          <p:nvPr>
            <p:ph idx="1"/>
          </p:nvPr>
        </p:nvSpPr>
        <p:spPr/>
        <p:txBody>
          <a:bodyPr/>
          <a:lstStyle/>
          <a:p>
            <a:pPr lvl="0" indent="0" marL="0">
              <a:spcBef>
                <a:spcPts val="3000"/>
              </a:spcBef>
              <a:buNone/>
            </a:pPr>
            <a:r>
              <a:rPr b="1"/>
              <a:t>1. Start with the Error Message</a:t>
            </a:r>
          </a:p>
          <a:p>
            <a:pPr lvl="0" indent="0" marL="0">
              <a:buNone/>
            </a:pPr>
            <a:r>
              <a:rPr/>
              <a:t>Real problems make the best prompts. “Fix this Vale warning” is clearer than “write a tool that might be useful someday.”</a:t>
            </a:r>
          </a:p>
          <a:p>
            <a:pPr lvl="0" indent="0" marL="0">
              <a:spcBef>
                <a:spcPts val="3000"/>
              </a:spcBef>
              <a:buNone/>
            </a:pPr>
            <a:r>
              <a:rPr b="1"/>
              <a:t>2. Point Claude to Context</a:t>
            </a:r>
          </a:p>
          <a:p>
            <a:pPr lvl="0" indent="0" marL="0">
              <a:buNone/>
            </a:pPr>
            <a:r>
              <a:rPr/>
              <a:t>Reference specific files: - The file with the problem - Similar files that show the correct pattern - Project documentation (CLAUDE.md, README)</a:t>
            </a:r>
          </a:p>
          <a:p>
            <a:pPr lvl="0" indent="0" marL="0">
              <a:spcBef>
                <a:spcPts val="3000"/>
              </a:spcBef>
              <a:buNone/>
            </a:pPr>
            <a:r>
              <a:rPr b="1"/>
              <a:t>3. Test Early, Iterate Often</a:t>
            </a:r>
          </a:p>
          <a:p>
            <a:pPr lvl="0" indent="0" marL="0">
              <a:buNone/>
            </a:pPr>
            <a:r>
              <a:rPr/>
              <a:t>Don’t wait for a “perfect” script. Run it quickly on real files. Edge cases emerge from actual usage, not imagination.</a:t>
            </a:r>
          </a:p>
          <a:p>
            <a:pPr lvl="0" indent="0" marL="0">
              <a:spcBef>
                <a:spcPts val="3000"/>
              </a:spcBef>
              <a:buNone/>
            </a:pPr>
            <a:r>
              <a:rPr b="1"/>
              <a:t>4. Give Specific Feedback</a:t>
            </a:r>
          </a:p>
          <a:p>
            <a:pPr lvl="0" indent="0" marL="0">
              <a:buNone/>
            </a:pPr>
            <a:r>
              <a:rPr/>
              <a:t>Instead of “this doesn’t work,” explain: - What you expected - What actually happened - Why that’s wrong</a:t>
            </a:r>
          </a:p>
          <a:p>
            <a:pPr lvl="0" indent="0" marL="0">
              <a:buNone/>
            </a:pPr>
            <a:r>
              <a:rPr b="1"/>
              <a:t>Weak feedback:</a:t>
            </a:r>
          </a:p>
          <a:p>
            <a:pPr lvl="0" indent="0">
              <a:buNone/>
            </a:pPr>
            <a:r>
              <a:rPr>
                <a:latin typeface="Courier"/>
              </a:rPr>
              <a:t>This doesn't work right.</a:t>
            </a:r>
          </a:p>
          <a:p>
            <a:pPr lvl="0" indent="0" marL="0">
              <a:buNone/>
            </a:pPr>
            <a:r>
              <a:rPr b="1"/>
              <a:t>Strong feedback:</a:t>
            </a:r>
          </a:p>
          <a:p>
            <a:pPr lvl="0" indent="0">
              <a:buNone/>
            </a:pPr>
            <a:r>
              <a:rPr>
                <a:latin typeface="Courier"/>
              </a:rPr>
              <a:t>The script says "No changes needed" for proc_example.adoc, but that file
doesn't have a .Procedure title. Expected: a warning message explaining
that the file has no numbered steps.</a:t>
            </a:r>
          </a:p>
          <a:p>
            <a:pPr lvl="0" indent="0" marL="0">
              <a:spcBef>
                <a:spcPts val="3000"/>
              </a:spcBef>
              <a:buNone/>
            </a:pPr>
            <a:r>
              <a:rPr b="1"/>
              <a:t>5. Let Claude Explore</a:t>
            </a:r>
          </a:p>
          <a:p>
            <a:pPr lvl="0" indent="0" marL="0">
              <a:buNone/>
            </a:pPr>
            <a:r>
              <a:rPr/>
              <a:t>Claude’s exploration phase—reading files, searching for patterns—often catches things you’d miss. Don’t skip straight to “write the code.”</a:t>
            </a:r>
          </a:p>
          <a:p>
            <a:pPr lvl="0" indent="0" marL="0">
              <a:spcBef>
                <a:spcPts val="3000"/>
              </a:spcBef>
              <a:buNone/>
            </a:pPr>
            <a:r>
              <a:rPr b="1"/>
              <a:t>6. Invest in CLAUDE.md</a:t>
            </a:r>
          </a:p>
          <a:p>
            <a:pPr lvl="0" indent="0" marL="0">
              <a:buNone/>
            </a:pPr>
            <a:r>
              <a:rPr/>
              <a:t>A well-maintained CLAUDE.md pays dividends every time you work with Claude on the project. See The Role of CLAUDE.md for what to include.</a:t>
            </a:r>
          </a:p>
          <a:p>
            <a:pPr lvl="0" indent="0" marL="0">
              <a:spcBef>
                <a:spcPts val="3000"/>
              </a:spcBef>
              <a:buNone/>
            </a:pPr>
            <a:r>
              <a:rPr b="1"/>
              <a:t>7. Short Prompts Work When Context Exists</a:t>
            </a:r>
          </a:p>
          <a:p>
            <a:pPr lvl="0" indent="0" marL="0">
              <a:buNone/>
            </a:pPr>
            <a:r>
              <a:rPr/>
              <a:t>Notice how later prompts got shorter: - </a:t>
            </a:r>
            <a:r>
              <a:rPr>
                <a:latin typeface="Courier"/>
              </a:rPr>
              <a:t>install pipx</a:t>
            </a:r>
            <a:r>
              <a:rPr/>
              <a:t> - </a:t>
            </a:r>
            <a:r>
              <a:rPr>
                <a:latin typeface="Courier"/>
              </a:rPr>
              <a:t>yes</a:t>
            </a:r>
            <a:r>
              <a:rPr/>
              <a:t> - </a:t>
            </a:r>
            <a:r>
              <a:rPr>
                <a:latin typeface="Courier"/>
              </a:rPr>
              <a:t>create user docs for insert-procedure-title in ~/doc-utils/docs</a:t>
            </a:r>
          </a:p>
          <a:p>
            <a:pPr lvl="0" indent="0" marL="0">
              <a:buNone/>
            </a:pPr>
            <a:r>
              <a:rPr/>
              <a:t>Once CLAUDE.md establishes context and Claude has read the relevant files, you can be terse. Early prompts should be detailed; later prompts can be conversational.</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Complete Workflow</a:t>
            </a:r>
          </a:p>
        </p:txBody>
      </p:sp>
      <p:sp>
        <p:nvSpPr>
          <p:cNvPr id="3" name="Content Placeholder 2"/>
          <p:cNvSpPr>
            <a:spLocks noGrp="1"/>
          </p:cNvSpPr>
          <p:nvPr>
            <p:ph idx="1"/>
          </p:nvPr>
        </p:nvSpPr>
        <p:spPr/>
        <p:txBody>
          <a:bodyPr/>
          <a:lstStyle/>
          <a:p>
            <a:pPr lvl="0" indent="0">
              <a:buNone/>
            </a:pPr>
            <a:r>
              <a:rPr>
                <a:latin typeface="Courier"/>
              </a:rPr>
              <a:t>1. Identify problem (Vale warning, repetitive task, etc.)
     ↓
2. Describe to Claude with context (files, error messages, goals)
     ↓
3. Claude explores codebase and creates first draft
     ↓
4. Test on real files
     ↓
5. Report issues with specific feedback
     ↓
6. Claude iterates
     ↓
7. Repeat 4-6 until working
     ↓
8. Install and integrate
     ↓
9. Document
     ↓
10. Validate at scale → back to step 5 if needed</a:t>
            </a:r>
          </a:p>
          <a:p>
            <a:pPr lvl="0" indent="0" marL="0">
              <a:buNone/>
            </a:pPr>
            <a:r>
              <a:rPr/>
              <a:t>The last step is important: running the tool on a larger set of files often reveals assumptions that don’t hold. In this case, validation after documentation led to another round of refinement.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Try It Yourself</a:t>
            </a:r>
          </a:p>
        </p:txBody>
      </p:sp>
      <p:sp>
        <p:nvSpPr>
          <p:cNvPr id="3" name="Content Placeholder 2"/>
          <p:cNvSpPr>
            <a:spLocks noGrp="1"/>
          </p:cNvSpPr>
          <p:nvPr>
            <p:ph idx="1"/>
          </p:nvPr>
        </p:nvSpPr>
        <p:spPr/>
        <p:txBody>
          <a:bodyPr/>
          <a:lstStyle/>
          <a:p>
            <a:pPr lvl="0" indent="-342900" marL="342900">
              <a:buAutoNum type="arabicPeriod"/>
            </a:pPr>
            <a:r>
              <a:rPr b="1"/>
              <a:t>Find a repetitive documentation task.</a:t>
            </a:r>
            <a:r>
              <a:rPr/>
              <a:t> Good starting points include:</a:t>
            </a:r>
          </a:p>
          <a:p>
            <a:pPr lvl="1"/>
            <a:r>
              <a:rPr/>
              <a:t>Fixing consistent formatting issues flagged by your linter</a:t>
            </a:r>
          </a:p>
          <a:p>
            <a:pPr lvl="1"/>
            <a:r>
              <a:rPr/>
              <a:t>Validating file naming conventions across a directory</a:t>
            </a:r>
          </a:p>
          <a:p>
            <a:pPr lvl="1"/>
            <a:r>
              <a:rPr/>
              <a:t>Generating link inventories or checking for broken references</a:t>
            </a:r>
          </a:p>
          <a:p>
            <a:pPr lvl="1"/>
            <a:r>
              <a:rPr/>
              <a:t>Inserting required metadata or frontmatter into files</a:t>
            </a:r>
          </a:p>
          <a:p>
            <a:pPr lvl="1"/>
            <a:r>
              <a:rPr/>
              <a:t>Converting between markup formats (Markdown to AsciiDoc, etc.)</a:t>
            </a:r>
          </a:p>
          <a:p>
            <a:pPr lvl="0" indent="-342900" marL="342900">
              <a:buAutoNum type="arabicPeriod"/>
            </a:pPr>
            <a:r>
              <a:rPr b="1"/>
              <a:t>Create or update your project’s CLAUDE.md</a:t>
            </a:r>
            <a:r>
              <a:rPr/>
              <a:t> with naming conventions, directory structure, and common commands.</a:t>
            </a:r>
          </a:p>
          <a:p>
            <a:pPr lvl="0" indent="-342900" marL="342900">
              <a:buAutoNum type="arabicPeriod"/>
            </a:pPr>
            <a:r>
              <a:rPr b="1"/>
              <a:t>Describe the task to Claude with specific examples</a:t>
            </a:r>
            <a:r>
              <a:rPr/>
              <a:t>—include a file with the problem and a file showing the correct format.</a:t>
            </a:r>
          </a:p>
          <a:p>
            <a:pPr lvl="0" indent="-342900" marL="342900">
              <a:buAutoNum type="arabicPeriod"/>
            </a:pPr>
            <a:r>
              <a:rPr b="1"/>
              <a:t>Test, give feedback, iterate.</a:t>
            </a:r>
            <a:r>
              <a:rPr/>
              <a:t> Run on real files early. Report what you expected vs. what happened.</a:t>
            </a:r>
          </a:p>
          <a:p>
            <a:pPr lvl="0" indent="-342900" marL="342900">
              <a:buAutoNum type="arabicPeriod"/>
            </a:pPr>
            <a:r>
              <a:rPr b="1"/>
              <a:t>Document what you built</a:t>
            </a:r>
            <a:r>
              <a:rPr/>
              <a:t> so future you (and teammates) can use it.</a:t>
            </a:r>
          </a:p>
          <a:p>
            <a:pPr lvl="0" indent="0" marL="0">
              <a:buNone/>
            </a:pPr>
            <a:r>
              <a:rPr/>
              <a:t>The best way to learn is to build something you actually need.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Tools with Claude Code</dc:title>
  <dc:creator/>
  <cp:keywords/>
  <dcterms:created xsi:type="dcterms:W3CDTF">2026-01-29T01:54:03Z</dcterms:created>
  <dcterms:modified xsi:type="dcterms:W3CDTF">2026-01-29T01:54:03Z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yout">
    <vt:lpwstr>default</vt:lpwstr>
  </property>
  <property fmtid="{D5CDD505-2E9C-101B-9397-08002B2CF9AE}" pid="3" name="nav_order">
    <vt:lpwstr>5</vt:lpwstr>
  </property>
</Properties>
</file>